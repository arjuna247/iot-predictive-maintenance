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embeddedFontLst>
    <p:embeddedFont>
      <p:font typeface="Nunito" panose="020F0502020204030204" pitchFamily="2" charset="0"/>
      <p:regular r:id="rId10"/>
      <p:bold r:id="rId11"/>
      <p:italic r:id="rId12"/>
      <p:boldItalic r:id="rId13"/>
    </p:embeddedFont>
    <p:embeddedFont>
      <p:font typeface="Playfair Display" panose="020F0502020204030204"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204088" y="2418467"/>
            <a:ext cx="9144000" cy="8805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IN">
                <a:latin typeface="Nunito"/>
                <a:ea typeface="Nunito"/>
                <a:cs typeface="Nunito"/>
                <a:sym typeface="Nunito"/>
              </a:rPr>
              <a:t>Industrial IoT Predictive Maintenance with Edge AI</a:t>
            </a:r>
            <a:endParaRPr b="1">
              <a:latin typeface="Nunito"/>
              <a:ea typeface="Nunito"/>
              <a:cs typeface="Nunito"/>
              <a:sym typeface="Nunito"/>
            </a:endParaRPr>
          </a:p>
        </p:txBody>
      </p:sp>
      <p:sp>
        <p:nvSpPr>
          <p:cNvPr id="89" name="Google Shape;89;p13"/>
          <p:cNvSpPr txBox="1">
            <a:spLocks noGrp="1"/>
          </p:cNvSpPr>
          <p:nvPr>
            <p:ph type="subTitle" idx="1"/>
          </p:nvPr>
        </p:nvSpPr>
        <p:spPr>
          <a:xfrm>
            <a:off x="7516875" y="4505827"/>
            <a:ext cx="4251600" cy="1316400"/>
          </a:xfrm>
          <a:prstGeom prst="rect">
            <a:avLst/>
          </a:prstGeom>
          <a:noFill/>
          <a:ln>
            <a:noFill/>
          </a:ln>
        </p:spPr>
        <p:txBody>
          <a:bodyPr spcFirstLastPara="1" wrap="square" lIns="91425" tIns="45700" rIns="91425" bIns="45700" anchor="t" anchorCtr="0">
            <a:normAutofit lnSpcReduction="20000"/>
          </a:bodyPr>
          <a:lstStyle/>
          <a:p>
            <a:pPr marL="0" lvl="0" indent="0" algn="l" rtl="0">
              <a:lnSpc>
                <a:spcPct val="90000"/>
              </a:lnSpc>
              <a:spcBef>
                <a:spcPts val="0"/>
              </a:spcBef>
              <a:spcAft>
                <a:spcPts val="0"/>
              </a:spcAft>
              <a:buClr>
                <a:schemeClr val="dk1"/>
              </a:buClr>
              <a:buSzPts val="2400"/>
              <a:buNone/>
            </a:pPr>
            <a:r>
              <a:rPr lang="en-IN" b="1">
                <a:latin typeface="Playfair Display"/>
                <a:ea typeface="Playfair Display"/>
                <a:cs typeface="Playfair Display"/>
                <a:sym typeface="Playfair Display"/>
              </a:rPr>
              <a:t>                                                                                                                                                                                                                               1)Arjun V - </a:t>
            </a:r>
            <a:r>
              <a:rPr lang="en-IN" b="1">
                <a:latin typeface="Times New Roman"/>
                <a:ea typeface="Times New Roman"/>
                <a:cs typeface="Times New Roman"/>
                <a:sym typeface="Times New Roman"/>
              </a:rPr>
              <a:t>24CS0081</a:t>
            </a:r>
            <a:endParaRPr>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r>
              <a:rPr lang="en-IN" b="1">
                <a:latin typeface="Playfair Display"/>
                <a:ea typeface="Playfair Display"/>
                <a:cs typeface="Playfair Display"/>
                <a:sym typeface="Playfair Display"/>
              </a:rPr>
              <a:t>                                                                                                               2)Hariharan C V – </a:t>
            </a:r>
            <a:r>
              <a:rPr lang="en-IN" b="1">
                <a:latin typeface="Times New Roman"/>
                <a:ea typeface="Times New Roman"/>
                <a:cs typeface="Times New Roman"/>
                <a:sym typeface="Times New Roman"/>
              </a:rPr>
              <a:t>24CS0288</a:t>
            </a:r>
            <a:endParaRPr>
              <a:latin typeface="Times New Roman"/>
              <a:ea typeface="Times New Roman"/>
              <a:cs typeface="Times New Roman"/>
              <a:sym typeface="Times New Roman"/>
            </a:endParaRPr>
          </a:p>
        </p:txBody>
      </p:sp>
      <p:sp>
        <p:nvSpPr>
          <p:cNvPr id="90" name="Google Shape;90;p13"/>
          <p:cNvSpPr txBox="1"/>
          <p:nvPr/>
        </p:nvSpPr>
        <p:spPr>
          <a:xfrm>
            <a:off x="838200" y="847513"/>
            <a:ext cx="9144000" cy="880500"/>
          </a:xfrm>
          <a:prstGeom prst="rect">
            <a:avLst/>
          </a:prstGeom>
          <a:noFill/>
          <a:ln>
            <a:noFill/>
          </a:ln>
        </p:spPr>
        <p:txBody>
          <a:bodyPr spcFirstLastPara="1" wrap="square" lIns="91425" tIns="45700" rIns="91425" bIns="45700" anchor="b" anchorCtr="0">
            <a:normAutofit fontScale="85000"/>
          </a:bodyPr>
          <a:lstStyle/>
          <a:p>
            <a:pPr marL="0" marR="0" lvl="0" indent="0" algn="ctr" rtl="0">
              <a:lnSpc>
                <a:spcPct val="90000"/>
              </a:lnSpc>
              <a:spcBef>
                <a:spcPts val="0"/>
              </a:spcBef>
              <a:spcAft>
                <a:spcPts val="0"/>
              </a:spcAft>
              <a:buClr>
                <a:schemeClr val="dk1"/>
              </a:buClr>
              <a:buSzPct val="100000"/>
              <a:buFont typeface="Times New Roman"/>
              <a:buNone/>
            </a:pPr>
            <a:r>
              <a:rPr lang="en-IN" sz="6000" b="1" i="0" u="none" strike="noStrike" cap="none">
                <a:solidFill>
                  <a:schemeClr val="dk1"/>
                </a:solidFill>
                <a:latin typeface="Playfair Display"/>
                <a:ea typeface="Playfair Display"/>
                <a:cs typeface="Playfair Display"/>
                <a:sym typeface="Playfair Display"/>
              </a:rPr>
              <a:t>CS</a:t>
            </a:r>
            <a:r>
              <a:rPr lang="en-IN" sz="6000" b="1" i="0" u="none" strike="noStrike" cap="none">
                <a:solidFill>
                  <a:schemeClr val="dk1"/>
                </a:solidFill>
                <a:latin typeface="Times New Roman"/>
                <a:ea typeface="Times New Roman"/>
                <a:cs typeface="Times New Roman"/>
                <a:sym typeface="Times New Roman"/>
              </a:rPr>
              <a:t>4406</a:t>
            </a:r>
            <a:r>
              <a:rPr lang="en-IN" sz="6000" b="1" i="0" u="none" strike="noStrike" cap="none">
                <a:solidFill>
                  <a:schemeClr val="dk1"/>
                </a:solidFill>
                <a:latin typeface="Playfair Display"/>
                <a:ea typeface="Playfair Display"/>
                <a:cs typeface="Playfair Display"/>
                <a:sym typeface="Playfair Display"/>
              </a:rPr>
              <a:t>-Core Course Project</a:t>
            </a:r>
            <a:endParaRPr>
              <a:latin typeface="Playfair Display"/>
              <a:ea typeface="Playfair Display"/>
              <a:cs typeface="Playfair Display"/>
              <a:sym typeface="Playfair Display"/>
            </a:endParaRPr>
          </a:p>
        </p:txBody>
      </p:sp>
      <p:sp>
        <p:nvSpPr>
          <p:cNvPr id="91" name="Google Shape;9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a:t>12-12-2025</a:t>
            </a:r>
            <a:endParaRPr/>
          </a:p>
        </p:txBody>
      </p:sp>
      <p:sp>
        <p:nvSpPr>
          <p:cNvPr id="92" name="Google Shape;9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Core Course Project –Zeroth Review</a:t>
            </a:r>
            <a:endParaRPr/>
          </a:p>
        </p:txBody>
      </p:sp>
      <p:sp>
        <p:nvSpPr>
          <p:cNvPr id="93" name="Google Shape;9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435429" y="365125"/>
            <a:ext cx="11462657" cy="9250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sz="3600" b="1">
                <a:latin typeface="Playfair Display"/>
                <a:ea typeface="Playfair Display"/>
                <a:cs typeface="Playfair Display"/>
                <a:sym typeface="Playfair Display"/>
              </a:rPr>
              <a:t>PROBLEM STATEMENT</a:t>
            </a:r>
            <a:endParaRPr>
              <a:latin typeface="Playfair Display"/>
              <a:ea typeface="Playfair Display"/>
              <a:cs typeface="Playfair Display"/>
              <a:sym typeface="Playfair Display"/>
            </a:endParaRPr>
          </a:p>
        </p:txBody>
      </p:sp>
      <p:sp>
        <p:nvSpPr>
          <p:cNvPr id="99" name="Google Shape;99;p14"/>
          <p:cNvSpPr txBox="1">
            <a:spLocks noGrp="1"/>
          </p:cNvSpPr>
          <p:nvPr>
            <p:ph type="body" idx="1"/>
          </p:nvPr>
        </p:nvSpPr>
        <p:spPr>
          <a:xfrm>
            <a:off x="435425" y="1469575"/>
            <a:ext cx="10186200" cy="47073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3200"/>
              <a:buChar char="•"/>
            </a:pPr>
            <a:r>
              <a:rPr lang="en-IN" sz="3200"/>
              <a:t>Industrial equipment failures lead to </a:t>
            </a:r>
            <a:r>
              <a:rPr lang="en-IN" sz="3200" b="1"/>
              <a:t>sudden downtime and high costs for reparations. </a:t>
            </a:r>
            <a:endParaRPr/>
          </a:p>
          <a:p>
            <a:pPr marL="228600" lvl="0" indent="-228600" algn="l" rtl="0">
              <a:lnSpc>
                <a:spcPct val="90000"/>
              </a:lnSpc>
              <a:spcBef>
                <a:spcPts val="1000"/>
              </a:spcBef>
              <a:spcAft>
                <a:spcPts val="0"/>
              </a:spcAft>
              <a:buClr>
                <a:schemeClr val="dk1"/>
              </a:buClr>
              <a:buSzPts val="3200"/>
              <a:buChar char="•"/>
            </a:pPr>
            <a:r>
              <a:rPr lang="en-IN" sz="3200"/>
              <a:t>Existing predictive systems </a:t>
            </a:r>
            <a:r>
              <a:rPr lang="en-IN" sz="3200" b="1"/>
              <a:t>depend on centralized cloud, causing latency &amp; bottlenecks. </a:t>
            </a:r>
            <a:endParaRPr/>
          </a:p>
          <a:p>
            <a:pPr marL="228600" lvl="0" indent="-228600" algn="l" rtl="0">
              <a:lnSpc>
                <a:spcPct val="90000"/>
              </a:lnSpc>
              <a:spcBef>
                <a:spcPts val="1000"/>
              </a:spcBef>
              <a:spcAft>
                <a:spcPts val="0"/>
              </a:spcAft>
              <a:buClr>
                <a:schemeClr val="dk1"/>
              </a:buClr>
              <a:buSzPts val="3200"/>
              <a:buChar char="•"/>
            </a:pPr>
            <a:r>
              <a:rPr lang="en-IN" sz="3200" b="1"/>
              <a:t>Data privacy &amp; security risks </a:t>
            </a:r>
            <a:r>
              <a:rPr lang="en-IN" sz="3200"/>
              <a:t>arise when sharing sensitive operational data being used for monitoring. </a:t>
            </a:r>
            <a:endParaRPr/>
          </a:p>
          <a:p>
            <a:pPr marL="228600" lvl="0" indent="-228600" algn="l" rtl="0">
              <a:lnSpc>
                <a:spcPct val="90000"/>
              </a:lnSpc>
              <a:spcBef>
                <a:spcPts val="1000"/>
              </a:spcBef>
              <a:spcAft>
                <a:spcPts val="0"/>
              </a:spcAft>
              <a:buClr>
                <a:schemeClr val="dk1"/>
              </a:buClr>
              <a:buSzPts val="3200"/>
              <a:buFont typeface="Calibri"/>
              <a:buChar char="•"/>
            </a:pPr>
            <a:r>
              <a:rPr lang="en-IN" sz="3200"/>
              <a:t>Lack of real-time, adaptive, and secure predictive maintenance frameworks in Industrial IoT.</a:t>
            </a:r>
            <a:endParaRPr sz="3200"/>
          </a:p>
        </p:txBody>
      </p:sp>
      <p:sp>
        <p:nvSpPr>
          <p:cNvPr id="100" name="Google Shape;10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a:t>12-12-2025</a:t>
            </a:r>
            <a:endParaRPr/>
          </a:p>
        </p:txBody>
      </p:sp>
      <p:sp>
        <p:nvSpPr>
          <p:cNvPr id="101" name="Google Shape;10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Core Course Project –Zeroth Review</a:t>
            </a:r>
            <a:endParaRPr/>
          </a:p>
        </p:txBody>
      </p:sp>
      <p:sp>
        <p:nvSpPr>
          <p:cNvPr id="102" name="Google Shape;10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pic>
        <p:nvPicPr>
          <p:cNvPr id="103" name="Google Shape;103;p14"/>
          <p:cNvPicPr preferRelativeResize="0"/>
          <p:nvPr/>
        </p:nvPicPr>
        <p:blipFill rotWithShape="1">
          <a:blip r:embed="rId3">
            <a:alphaModFix/>
          </a:blip>
          <a:srcRect l="7791" t="18563" r="81737" b="9622"/>
          <a:stretch/>
        </p:blipFill>
        <p:spPr>
          <a:xfrm>
            <a:off x="10621625" y="902913"/>
            <a:ext cx="1276574" cy="4886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5"/>
          <p:cNvSpPr txBox="1">
            <a:spLocks noGrp="1"/>
          </p:cNvSpPr>
          <p:nvPr>
            <p:ph type="title"/>
          </p:nvPr>
        </p:nvSpPr>
        <p:spPr>
          <a:xfrm>
            <a:off x="838200" y="365125"/>
            <a:ext cx="10515600" cy="9193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IN"/>
              <a:t>                               </a:t>
            </a:r>
            <a:endParaRPr/>
          </a:p>
        </p:txBody>
      </p:sp>
      <p:sp>
        <p:nvSpPr>
          <p:cNvPr id="109" name="Google Shape;109;p15"/>
          <p:cNvSpPr txBox="1">
            <a:spLocks noGrp="1"/>
          </p:cNvSpPr>
          <p:nvPr>
            <p:ph type="body" idx="1"/>
          </p:nvPr>
        </p:nvSpPr>
        <p:spPr>
          <a:xfrm>
            <a:off x="348348" y="1393375"/>
            <a:ext cx="7873500" cy="47835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800"/>
              <a:buNone/>
            </a:pPr>
            <a:r>
              <a:rPr lang="en-IN" b="1">
                <a:latin typeface="Playfair Display"/>
                <a:ea typeface="Playfair Display"/>
                <a:cs typeface="Playfair Display"/>
                <a:sym typeface="Playfair Display"/>
              </a:rPr>
              <a:t>AIM</a:t>
            </a:r>
            <a:r>
              <a:rPr lang="en-IN" b="1"/>
              <a:t>:</a:t>
            </a:r>
            <a:endParaRPr/>
          </a:p>
          <a:p>
            <a:pPr marL="228600" lvl="0" indent="-228600" algn="l" rtl="0">
              <a:lnSpc>
                <a:spcPct val="90000"/>
              </a:lnSpc>
              <a:spcBef>
                <a:spcPts val="1000"/>
              </a:spcBef>
              <a:spcAft>
                <a:spcPts val="0"/>
              </a:spcAft>
              <a:buClr>
                <a:schemeClr val="dk1"/>
              </a:buClr>
              <a:buSzPts val="2800"/>
              <a:buChar char="•"/>
            </a:pPr>
            <a:r>
              <a:rPr lang="en-IN"/>
              <a:t>The aim of the project is to build an </a:t>
            </a:r>
            <a:r>
              <a:rPr lang="en-IN" b="1"/>
              <a:t>IoT-based system </a:t>
            </a:r>
            <a:r>
              <a:rPr lang="en-IN"/>
              <a:t>that predicts anomaly for industrial equipments.</a:t>
            </a:r>
            <a:endParaRPr/>
          </a:p>
          <a:p>
            <a:pPr marL="228600" lvl="0" indent="-228600" algn="l" rtl="0">
              <a:lnSpc>
                <a:spcPct val="90000"/>
              </a:lnSpc>
              <a:spcBef>
                <a:spcPts val="1000"/>
              </a:spcBef>
              <a:spcAft>
                <a:spcPts val="0"/>
              </a:spcAft>
              <a:buClr>
                <a:schemeClr val="dk1"/>
              </a:buClr>
              <a:buSzPts val="2800"/>
              <a:buChar char="•"/>
            </a:pPr>
            <a:r>
              <a:rPr lang="en-IN"/>
              <a:t>The project focusses to reduce cloud intervention by using edge AI.</a:t>
            </a:r>
            <a:endParaRPr/>
          </a:p>
          <a:p>
            <a:pPr marL="228600" lvl="0" indent="-5080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r>
              <a:rPr lang="en-IN" b="1">
                <a:latin typeface="Playfair Display"/>
                <a:ea typeface="Playfair Display"/>
                <a:cs typeface="Playfair Display"/>
                <a:sym typeface="Playfair Display"/>
              </a:rPr>
              <a:t>SCOPE:</a:t>
            </a:r>
            <a:endParaRPr>
              <a:latin typeface="Playfair Display"/>
              <a:ea typeface="Playfair Display"/>
              <a:cs typeface="Playfair Display"/>
              <a:sym typeface="Playfair Display"/>
            </a:endParaRPr>
          </a:p>
          <a:p>
            <a:pPr marL="228600" lvl="0" indent="-228600" algn="l" rtl="0">
              <a:lnSpc>
                <a:spcPct val="90000"/>
              </a:lnSpc>
              <a:spcBef>
                <a:spcPts val="1000"/>
              </a:spcBef>
              <a:spcAft>
                <a:spcPts val="0"/>
              </a:spcAft>
              <a:buClr>
                <a:schemeClr val="dk1"/>
              </a:buClr>
              <a:buSzPts val="2800"/>
              <a:buChar char="•"/>
            </a:pPr>
            <a:r>
              <a:rPr lang="en-IN"/>
              <a:t>Build an IoT setup that is scalable, uses Edge AI, Federated learning to improve with time and Blockchain for data integrity and privacy.</a:t>
            </a:r>
            <a:endParaRPr/>
          </a:p>
        </p:txBody>
      </p:sp>
      <p:sp>
        <p:nvSpPr>
          <p:cNvPr id="110" name="Google Shape;11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a:t>12-12-2025</a:t>
            </a:r>
            <a:endParaRPr/>
          </a:p>
        </p:txBody>
      </p:sp>
      <p:sp>
        <p:nvSpPr>
          <p:cNvPr id="111" name="Google Shape;11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Core Course Project –Zeroth Review</a:t>
            </a:r>
            <a:endParaRPr/>
          </a:p>
        </p:txBody>
      </p:sp>
      <p:sp>
        <p:nvSpPr>
          <p:cNvPr id="112" name="Google Shape;11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13" name="Google Shape;113;p15"/>
          <p:cNvSpPr txBox="1"/>
          <p:nvPr/>
        </p:nvSpPr>
        <p:spPr>
          <a:xfrm>
            <a:off x="435429" y="365125"/>
            <a:ext cx="11462657" cy="92505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Times New Roman"/>
              <a:buNone/>
            </a:pPr>
            <a:r>
              <a:rPr lang="en-IN" sz="4400" b="1" i="0" u="none" strike="noStrike" cap="none">
                <a:solidFill>
                  <a:schemeClr val="dk1"/>
                </a:solidFill>
                <a:latin typeface="Times New Roman"/>
                <a:ea typeface="Times New Roman"/>
                <a:cs typeface="Times New Roman"/>
                <a:sym typeface="Times New Roman"/>
              </a:rPr>
              <a:t>                        </a:t>
            </a:r>
            <a:endParaRPr/>
          </a:p>
        </p:txBody>
      </p:sp>
      <p:sp>
        <p:nvSpPr>
          <p:cNvPr id="114" name="Google Shape;114;p15"/>
          <p:cNvSpPr txBox="1"/>
          <p:nvPr/>
        </p:nvSpPr>
        <p:spPr>
          <a:xfrm>
            <a:off x="293914" y="288925"/>
            <a:ext cx="11462657" cy="92505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Times New Roman"/>
              <a:buNone/>
            </a:pPr>
            <a:r>
              <a:rPr lang="en-IN" sz="3600" b="1" i="0" u="none" strike="noStrike" cap="none">
                <a:solidFill>
                  <a:schemeClr val="dk1"/>
                </a:solidFill>
                <a:latin typeface="Playfair Display"/>
                <a:ea typeface="Playfair Display"/>
                <a:cs typeface="Playfair Display"/>
                <a:sym typeface="Playfair Display"/>
              </a:rPr>
              <a:t>AIM AND SCOPE OF THE WORK</a:t>
            </a:r>
            <a:endParaRPr>
              <a:latin typeface="Playfair Display"/>
              <a:ea typeface="Playfair Display"/>
              <a:cs typeface="Playfair Display"/>
              <a:sym typeface="Playfair Display"/>
            </a:endParaRPr>
          </a:p>
        </p:txBody>
      </p:sp>
      <p:pic>
        <p:nvPicPr>
          <p:cNvPr id="115" name="Google Shape;115;p15"/>
          <p:cNvPicPr preferRelativeResize="0"/>
          <p:nvPr/>
        </p:nvPicPr>
        <p:blipFill rotWithShape="1">
          <a:blip r:embed="rId3">
            <a:alphaModFix/>
          </a:blip>
          <a:srcRect l="3567" t="28570" r="51391" b="36017"/>
          <a:stretch/>
        </p:blipFill>
        <p:spPr>
          <a:xfrm>
            <a:off x="7865403" y="1787525"/>
            <a:ext cx="4233601" cy="1857800"/>
          </a:xfrm>
          <a:prstGeom prst="rect">
            <a:avLst/>
          </a:prstGeom>
          <a:noFill/>
          <a:ln>
            <a:noFill/>
          </a:ln>
        </p:spPr>
      </p:pic>
      <p:pic>
        <p:nvPicPr>
          <p:cNvPr id="116" name="Google Shape;116;p15"/>
          <p:cNvPicPr preferRelativeResize="0"/>
          <p:nvPr/>
        </p:nvPicPr>
        <p:blipFill rotWithShape="1">
          <a:blip r:embed="rId3">
            <a:alphaModFix/>
          </a:blip>
          <a:srcRect l="52221" t="25059" b="31674"/>
          <a:stretch/>
        </p:blipFill>
        <p:spPr>
          <a:xfrm>
            <a:off x="7865400" y="4077900"/>
            <a:ext cx="4032674" cy="2038174"/>
          </a:xfrm>
          <a:prstGeom prst="rect">
            <a:avLst/>
          </a:prstGeom>
          <a:noFill/>
          <a:ln>
            <a:noFill/>
          </a:ln>
        </p:spPr>
      </p:pic>
      <p:sp>
        <p:nvSpPr>
          <p:cNvPr id="117" name="Google Shape;117;p15"/>
          <p:cNvSpPr/>
          <p:nvPr/>
        </p:nvSpPr>
        <p:spPr>
          <a:xfrm>
            <a:off x="9111000" y="3950200"/>
            <a:ext cx="1061400" cy="286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838200" y="365125"/>
            <a:ext cx="10515600" cy="9193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IN"/>
              <a:t>                               </a:t>
            </a:r>
            <a:endParaRPr/>
          </a:p>
        </p:txBody>
      </p:sp>
      <p:sp>
        <p:nvSpPr>
          <p:cNvPr id="123" name="Google Shape;123;p16"/>
          <p:cNvSpPr txBox="1">
            <a:spLocks noGrp="1"/>
          </p:cNvSpPr>
          <p:nvPr>
            <p:ph type="body" idx="1"/>
          </p:nvPr>
        </p:nvSpPr>
        <p:spPr>
          <a:xfrm>
            <a:off x="348343" y="1393371"/>
            <a:ext cx="11549743" cy="4783592"/>
          </a:xfrm>
          <a:prstGeom prst="rect">
            <a:avLst/>
          </a:prstGeom>
          <a:noFill/>
          <a:ln>
            <a:noFill/>
          </a:ln>
        </p:spPr>
        <p:txBody>
          <a:bodyPr spcFirstLastPara="1" wrap="square" lIns="91425" tIns="45700" rIns="91425" bIns="45700" anchor="t" anchorCtr="0">
            <a:normAutofit lnSpcReduction="20000"/>
          </a:bodyPr>
          <a:lstStyle/>
          <a:p>
            <a:pPr marL="0" lvl="0" indent="0" algn="l" rtl="0">
              <a:lnSpc>
                <a:spcPct val="115000"/>
              </a:lnSpc>
              <a:spcBef>
                <a:spcPts val="0"/>
              </a:spcBef>
              <a:spcAft>
                <a:spcPts val="0"/>
              </a:spcAft>
              <a:buClr>
                <a:schemeClr val="dk1"/>
              </a:buClr>
              <a:buSzPts val="2800"/>
              <a:buNone/>
            </a:pPr>
            <a:r>
              <a:rPr lang="en-IN" sz="2000"/>
              <a:t>		</a:t>
            </a:r>
            <a:r>
              <a:rPr lang="en-IN" sz="2300"/>
              <a:t>In the domain of Industrial operations, industrial equipments plays a vital role for the industry. Such industrial equipments’ downtime and failures lead to significant financial loss and reduced productivity for the industry. The project </a:t>
            </a:r>
            <a:r>
              <a:rPr lang="en-IN" sz="2300" b="1"/>
              <a:t>“Predictive Maintenance” </a:t>
            </a:r>
            <a:r>
              <a:rPr lang="en-IN" sz="2300"/>
              <a:t>incorporates ML(Machine Learning), real-time monitoring, security to </a:t>
            </a:r>
            <a:r>
              <a:rPr lang="en-IN" sz="2300" b="1"/>
              <a:t>predict</a:t>
            </a:r>
            <a:r>
              <a:rPr lang="en-IN" sz="2300"/>
              <a:t> equipment malfunctions and anticipate equipment failures. Existing solutions for such limitations often depend on cloud infrastructure, which causes latency issues, bottlenecks when unstable network connections. This project falls on the domain of IIoT(Industrial Internet of Things) to address the existing issues by combining various technologies. The technologies that are planned to integrate in this project are </a:t>
            </a:r>
            <a:r>
              <a:rPr lang="en-IN" sz="2300" b="1"/>
              <a:t>Edge AI</a:t>
            </a:r>
            <a:r>
              <a:rPr lang="en-IN" sz="2300"/>
              <a:t> - To perform immediate processing of data near the data source, </a:t>
            </a:r>
            <a:r>
              <a:rPr lang="en-IN" sz="2300" b="1"/>
              <a:t>Blockchain-secured Federated Learning </a:t>
            </a:r>
            <a:r>
              <a:rPr lang="en-IN" sz="2300"/>
              <a:t>- allows training data locally on device data while preserving data security and enhance privacy. </a:t>
            </a:r>
            <a:r>
              <a:rPr lang="en-IN" sz="2300" b="1"/>
              <a:t>Digital Twin Technology</a:t>
            </a:r>
            <a:r>
              <a:rPr lang="en-IN" sz="2300"/>
              <a:t> - creates virtual replicas of the machinery to run a number of what-if scenarios. By combining such technologies, a software - hardware integrated system setup is obtained, which optimizes maintenance schedules and minimize equipments’ downtime by </a:t>
            </a:r>
            <a:r>
              <a:rPr lang="en-IN" sz="2300" b="1"/>
              <a:t>predictive maintenance.</a:t>
            </a:r>
            <a:endParaRPr sz="2300" b="1"/>
          </a:p>
        </p:txBody>
      </p:sp>
      <p:sp>
        <p:nvSpPr>
          <p:cNvPr id="124" name="Google Shape;12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a:t>12-12-2025</a:t>
            </a:r>
            <a:endParaRPr/>
          </a:p>
        </p:txBody>
      </p:sp>
      <p:sp>
        <p:nvSpPr>
          <p:cNvPr id="125" name="Google Shape;12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Core Course Project –Zeroth Review</a:t>
            </a:r>
            <a:endParaRPr/>
          </a:p>
        </p:txBody>
      </p:sp>
      <p:sp>
        <p:nvSpPr>
          <p:cNvPr id="126" name="Google Shape;12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a:t>
            </a:fld>
            <a:endParaRPr/>
          </a:p>
        </p:txBody>
      </p:sp>
      <p:sp>
        <p:nvSpPr>
          <p:cNvPr id="127" name="Google Shape;127;p16"/>
          <p:cNvSpPr txBox="1"/>
          <p:nvPr/>
        </p:nvSpPr>
        <p:spPr>
          <a:xfrm>
            <a:off x="435429" y="365125"/>
            <a:ext cx="11462657" cy="92505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Times New Roman"/>
              <a:buNone/>
            </a:pPr>
            <a:r>
              <a:rPr lang="en-IN" sz="4400" b="1" i="0" u="none" strike="noStrike" cap="none">
                <a:solidFill>
                  <a:schemeClr val="dk1"/>
                </a:solidFill>
                <a:latin typeface="Times New Roman"/>
                <a:ea typeface="Times New Roman"/>
                <a:cs typeface="Times New Roman"/>
                <a:sym typeface="Times New Roman"/>
              </a:rPr>
              <a:t>                        </a:t>
            </a:r>
            <a:endParaRPr/>
          </a:p>
        </p:txBody>
      </p:sp>
      <p:sp>
        <p:nvSpPr>
          <p:cNvPr id="128" name="Google Shape;128;p16"/>
          <p:cNvSpPr txBox="1"/>
          <p:nvPr/>
        </p:nvSpPr>
        <p:spPr>
          <a:xfrm>
            <a:off x="293914" y="288925"/>
            <a:ext cx="11462657" cy="92505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3600"/>
              <a:buFont typeface="Times New Roman"/>
              <a:buNone/>
            </a:pPr>
            <a:r>
              <a:rPr lang="en-IN" sz="3600" b="1" i="0" u="none" strike="noStrike" cap="none">
                <a:solidFill>
                  <a:schemeClr val="dk1"/>
                </a:solidFill>
                <a:latin typeface="Playfair Display"/>
                <a:ea typeface="Playfair Display"/>
                <a:cs typeface="Playfair Display"/>
                <a:sym typeface="Playfair Display"/>
              </a:rPr>
              <a:t>ABSTRACT</a:t>
            </a:r>
            <a:endParaRPr>
              <a:latin typeface="Playfair Display"/>
              <a:ea typeface="Playfair Display"/>
              <a:cs typeface="Playfair Display"/>
              <a:sym typeface="Playfair Displa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7"/>
          <p:cNvSpPr txBox="1">
            <a:spLocks noGrp="1"/>
          </p:cNvSpPr>
          <p:nvPr>
            <p:ph type="title"/>
          </p:nvPr>
        </p:nvSpPr>
        <p:spPr>
          <a:xfrm>
            <a:off x="424543" y="365125"/>
            <a:ext cx="11440885" cy="10064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dirty="0">
                <a:latin typeface="Playfair Display"/>
                <a:ea typeface="Playfair Display"/>
                <a:cs typeface="Playfair Display"/>
                <a:sym typeface="Playfair Display"/>
              </a:rPr>
              <a:t>ARCHITECTURE DIAGRAM</a:t>
            </a:r>
            <a:endParaRPr dirty="0">
              <a:latin typeface="Playfair Display"/>
              <a:ea typeface="Playfair Display"/>
              <a:cs typeface="Playfair Display"/>
              <a:sym typeface="Playfair Display"/>
            </a:endParaRPr>
          </a:p>
        </p:txBody>
      </p:sp>
      <p:pic>
        <p:nvPicPr>
          <p:cNvPr id="134" name="Google Shape;134;p17" descr="A black text and orange dots&#10;&#10;AI-generated content may be incorrect."/>
          <p:cNvPicPr preferRelativeResize="0">
            <a:picLocks noGrp="1"/>
          </p:cNvPicPr>
          <p:nvPr>
            <p:ph type="body" idx="1"/>
          </p:nvPr>
        </p:nvPicPr>
        <p:blipFill rotWithShape="1">
          <a:blip r:embed="rId3">
            <a:alphaModFix/>
          </a:blip>
          <a:srcRect/>
          <a:stretch/>
        </p:blipFill>
        <p:spPr>
          <a:xfrm>
            <a:off x="555982" y="2556311"/>
            <a:ext cx="11364900" cy="1745400"/>
          </a:xfrm>
          <a:prstGeom prst="rect">
            <a:avLst/>
          </a:prstGeom>
          <a:noFill/>
          <a:ln w="9525" cap="flat" cmpd="sng">
            <a:solidFill>
              <a:schemeClr val="lt1"/>
            </a:solidFill>
            <a:prstDash val="solid"/>
            <a:round/>
            <a:headEnd type="none" w="sm" len="sm"/>
            <a:tailEnd type="none" w="sm" len="sm"/>
          </a:ln>
        </p:spPr>
      </p:pic>
      <p:sp>
        <p:nvSpPr>
          <p:cNvPr id="135" name="Google Shape;13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a:t>12-12-2025</a:t>
            </a:r>
            <a:endParaRPr/>
          </a:p>
        </p:txBody>
      </p:sp>
      <p:sp>
        <p:nvSpPr>
          <p:cNvPr id="136" name="Google Shape;13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Core Course Project –Zeroth Review</a:t>
            </a:r>
            <a:endParaRPr/>
          </a:p>
        </p:txBody>
      </p:sp>
      <p:sp>
        <p:nvSpPr>
          <p:cNvPr id="137" name="Google Shape;13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8"/>
          <p:cNvSpPr txBox="1">
            <a:spLocks noGrp="1"/>
          </p:cNvSpPr>
          <p:nvPr>
            <p:ph type="title"/>
          </p:nvPr>
        </p:nvSpPr>
        <p:spPr>
          <a:xfrm>
            <a:off x="838200" y="365126"/>
            <a:ext cx="10515600" cy="83230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a:latin typeface="Playfair Display"/>
                <a:ea typeface="Playfair Display"/>
                <a:cs typeface="Playfair Display"/>
                <a:sym typeface="Playfair Display"/>
              </a:rPr>
              <a:t>HARDWARE / SOFTWARE</a:t>
            </a:r>
            <a:endParaRPr>
              <a:latin typeface="Playfair Display"/>
              <a:ea typeface="Playfair Display"/>
              <a:cs typeface="Playfair Display"/>
              <a:sym typeface="Playfair Display"/>
            </a:endParaRPr>
          </a:p>
        </p:txBody>
      </p:sp>
      <p:sp>
        <p:nvSpPr>
          <p:cNvPr id="143" name="Google Shape;143;p18"/>
          <p:cNvSpPr txBox="1">
            <a:spLocks noGrp="1"/>
          </p:cNvSpPr>
          <p:nvPr>
            <p:ph type="body" idx="1"/>
          </p:nvPr>
        </p:nvSpPr>
        <p:spPr>
          <a:xfrm>
            <a:off x="838200" y="1513114"/>
            <a:ext cx="4114800" cy="466384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IN" b="1"/>
              <a:t>HARDWARE</a:t>
            </a:r>
            <a:endParaRPr/>
          </a:p>
          <a:p>
            <a:pPr marL="228600" lvl="0" indent="-228600" algn="l" rtl="0">
              <a:lnSpc>
                <a:spcPct val="90000"/>
              </a:lnSpc>
              <a:spcBef>
                <a:spcPts val="1000"/>
              </a:spcBef>
              <a:spcAft>
                <a:spcPts val="0"/>
              </a:spcAft>
              <a:buClr>
                <a:schemeClr val="dk1"/>
              </a:buClr>
              <a:buSzPts val="2800"/>
              <a:buChar char="•"/>
            </a:pPr>
            <a:r>
              <a:rPr lang="en-IN"/>
              <a:t>ESP32</a:t>
            </a:r>
            <a:endParaRPr/>
          </a:p>
          <a:p>
            <a:pPr marL="228600" lvl="0" indent="-228600" algn="l" rtl="0">
              <a:lnSpc>
                <a:spcPct val="90000"/>
              </a:lnSpc>
              <a:spcBef>
                <a:spcPts val="1000"/>
              </a:spcBef>
              <a:spcAft>
                <a:spcPts val="0"/>
              </a:spcAft>
              <a:buClr>
                <a:schemeClr val="dk1"/>
              </a:buClr>
              <a:buSzPts val="2800"/>
              <a:buChar char="•"/>
            </a:pPr>
            <a:r>
              <a:rPr lang="en-IN" b="1"/>
              <a:t>DHT22</a:t>
            </a:r>
            <a:r>
              <a:rPr lang="en-IN"/>
              <a:t> – Temperature &amp; humidity</a:t>
            </a:r>
            <a:endParaRPr/>
          </a:p>
          <a:p>
            <a:pPr marL="228600" lvl="0" indent="-228600" algn="l" rtl="0">
              <a:lnSpc>
                <a:spcPct val="90000"/>
              </a:lnSpc>
              <a:spcBef>
                <a:spcPts val="1000"/>
              </a:spcBef>
              <a:spcAft>
                <a:spcPts val="0"/>
              </a:spcAft>
              <a:buClr>
                <a:schemeClr val="dk1"/>
              </a:buClr>
              <a:buSzPts val="2800"/>
              <a:buChar char="•"/>
            </a:pPr>
            <a:r>
              <a:rPr lang="en-IN" b="1"/>
              <a:t>MPU6050 </a:t>
            </a:r>
            <a:r>
              <a:rPr lang="en-IN"/>
              <a:t>– Vibration and motion</a:t>
            </a:r>
            <a:endParaRPr/>
          </a:p>
          <a:p>
            <a:pPr marL="228600" lvl="0" indent="-228600" algn="l" rtl="0">
              <a:lnSpc>
                <a:spcPct val="90000"/>
              </a:lnSpc>
              <a:spcBef>
                <a:spcPts val="1000"/>
              </a:spcBef>
              <a:spcAft>
                <a:spcPts val="0"/>
              </a:spcAft>
              <a:buClr>
                <a:schemeClr val="dk1"/>
              </a:buClr>
              <a:buSzPts val="2800"/>
              <a:buChar char="•"/>
            </a:pPr>
            <a:r>
              <a:rPr lang="en-IN" b="1"/>
              <a:t>ACS712</a:t>
            </a:r>
            <a:r>
              <a:rPr lang="en-IN"/>
              <a:t> – Current measurement</a:t>
            </a:r>
            <a:endParaRPr/>
          </a:p>
          <a:p>
            <a:pPr marL="228600" lvl="0" indent="-228600" algn="l" rtl="0">
              <a:lnSpc>
                <a:spcPct val="90000"/>
              </a:lnSpc>
              <a:spcBef>
                <a:spcPts val="1000"/>
              </a:spcBef>
              <a:spcAft>
                <a:spcPts val="0"/>
              </a:spcAft>
              <a:buClr>
                <a:schemeClr val="dk1"/>
              </a:buClr>
              <a:buSzPts val="2800"/>
              <a:buChar char="•"/>
            </a:pPr>
            <a:r>
              <a:rPr lang="en-IN"/>
              <a:t>Motor &amp; Motor driver</a:t>
            </a:r>
            <a:endParaRPr/>
          </a:p>
        </p:txBody>
      </p:sp>
      <p:sp>
        <p:nvSpPr>
          <p:cNvPr id="144" name="Google Shape;144;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a:t>12-12-2025</a:t>
            </a:r>
            <a:endParaRPr/>
          </a:p>
        </p:txBody>
      </p:sp>
      <p:sp>
        <p:nvSpPr>
          <p:cNvPr id="145" name="Google Shape;145;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Core Course Project –Zeroth Review</a:t>
            </a:r>
            <a:endParaRPr/>
          </a:p>
        </p:txBody>
      </p:sp>
      <p:sp>
        <p:nvSpPr>
          <p:cNvPr id="146" name="Google Shape;14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147" name="Google Shape;147;p18"/>
          <p:cNvSpPr txBox="1"/>
          <p:nvPr/>
        </p:nvSpPr>
        <p:spPr>
          <a:xfrm>
            <a:off x="4953000" y="1444965"/>
            <a:ext cx="6400800" cy="4663849"/>
          </a:xfrm>
          <a:prstGeom prst="rect">
            <a:avLst/>
          </a:prstGeom>
          <a:noFill/>
          <a:ln>
            <a:noFill/>
          </a:ln>
        </p:spPr>
        <p:txBody>
          <a:bodyPr spcFirstLastPara="1" wrap="square" lIns="91425" tIns="45700" rIns="91425" bIns="45700" anchor="t" anchorCtr="0">
            <a:normAutofit fontScale="85000" lnSpcReduction="10000"/>
          </a:bodyPr>
          <a:lstStyle/>
          <a:p>
            <a:pPr marL="0" marR="0" lvl="0" indent="0" algn="l" rtl="0">
              <a:lnSpc>
                <a:spcPct val="90000"/>
              </a:lnSpc>
              <a:spcBef>
                <a:spcPts val="0"/>
              </a:spcBef>
              <a:spcAft>
                <a:spcPts val="0"/>
              </a:spcAft>
              <a:buClr>
                <a:schemeClr val="dk1"/>
              </a:buClr>
              <a:buSzPct val="100000"/>
              <a:buFont typeface="Arial"/>
              <a:buNone/>
            </a:pPr>
            <a:r>
              <a:rPr lang="en-IN" sz="2800" b="1" i="0" u="none" strike="noStrike" cap="none">
                <a:solidFill>
                  <a:schemeClr val="dk1"/>
                </a:solidFill>
                <a:latin typeface="Calibri"/>
                <a:ea typeface="Calibri"/>
                <a:cs typeface="Calibri"/>
                <a:sym typeface="Calibri"/>
              </a:rPr>
              <a:t>SOFTWARE</a:t>
            </a:r>
            <a:endParaRPr/>
          </a:p>
          <a:p>
            <a:pPr marL="228600" marR="0" lvl="0" indent="-228600" algn="l" rtl="0">
              <a:lnSpc>
                <a:spcPct val="90000"/>
              </a:lnSpc>
              <a:spcBef>
                <a:spcPts val="1000"/>
              </a:spcBef>
              <a:spcAft>
                <a:spcPts val="0"/>
              </a:spcAft>
              <a:buClr>
                <a:schemeClr val="dk1"/>
              </a:buClr>
              <a:buSzPct val="100000"/>
              <a:buFont typeface="Arial"/>
              <a:buChar char="•"/>
            </a:pPr>
            <a:r>
              <a:rPr lang="en-IN" sz="2800" b="0" i="0" u="none" strike="noStrike" cap="none">
                <a:solidFill>
                  <a:schemeClr val="dk1"/>
                </a:solidFill>
                <a:latin typeface="Calibri"/>
                <a:ea typeface="Calibri"/>
                <a:cs typeface="Calibri"/>
                <a:sym typeface="Calibri"/>
              </a:rPr>
              <a:t>Arduino IDE</a:t>
            </a:r>
            <a:endParaRPr/>
          </a:p>
          <a:p>
            <a:pPr marL="228600" marR="0" lvl="0" indent="-228600" algn="l" rtl="0">
              <a:lnSpc>
                <a:spcPct val="90000"/>
              </a:lnSpc>
              <a:spcBef>
                <a:spcPts val="1000"/>
              </a:spcBef>
              <a:spcAft>
                <a:spcPts val="0"/>
              </a:spcAft>
              <a:buClr>
                <a:schemeClr val="dk1"/>
              </a:buClr>
              <a:buSzPct val="100000"/>
              <a:buFont typeface="Arial"/>
              <a:buChar char="•"/>
            </a:pPr>
            <a:r>
              <a:rPr lang="en-IN" sz="2800" b="1" i="0" u="none" strike="noStrike" cap="none">
                <a:solidFill>
                  <a:schemeClr val="dk1"/>
                </a:solidFill>
                <a:latin typeface="Calibri"/>
                <a:ea typeface="Calibri"/>
                <a:cs typeface="Calibri"/>
                <a:sym typeface="Calibri"/>
              </a:rPr>
              <a:t>Python FastAPI </a:t>
            </a:r>
            <a:r>
              <a:rPr lang="en-IN" sz="2800" b="0" i="0" u="none" strike="noStrike" cap="none">
                <a:solidFill>
                  <a:schemeClr val="dk1"/>
                </a:solidFill>
                <a:latin typeface="Calibri"/>
                <a:ea typeface="Calibri"/>
                <a:cs typeface="Calibri"/>
                <a:sym typeface="Calibri"/>
              </a:rPr>
              <a:t>– Backend API</a:t>
            </a:r>
            <a:endParaRPr/>
          </a:p>
          <a:p>
            <a:pPr marL="228600" marR="0" lvl="0" indent="-228600" algn="l" rtl="0">
              <a:lnSpc>
                <a:spcPct val="90000"/>
              </a:lnSpc>
              <a:spcBef>
                <a:spcPts val="1000"/>
              </a:spcBef>
              <a:spcAft>
                <a:spcPts val="0"/>
              </a:spcAft>
              <a:buClr>
                <a:schemeClr val="dk1"/>
              </a:buClr>
              <a:buSzPct val="100000"/>
              <a:buFont typeface="Arial"/>
              <a:buChar char="•"/>
            </a:pPr>
            <a:r>
              <a:rPr lang="en-IN" sz="2800" b="1" i="0" u="none" strike="noStrike" cap="none">
                <a:solidFill>
                  <a:schemeClr val="dk1"/>
                </a:solidFill>
                <a:latin typeface="Calibri"/>
                <a:ea typeface="Calibri"/>
                <a:cs typeface="Calibri"/>
                <a:sym typeface="Calibri"/>
              </a:rPr>
              <a:t>MQTT</a:t>
            </a:r>
            <a:r>
              <a:rPr lang="en-IN" sz="2800" b="0" i="0" u="none" strike="noStrike" cap="none">
                <a:solidFill>
                  <a:schemeClr val="dk1"/>
                </a:solidFill>
                <a:latin typeface="Calibri"/>
                <a:ea typeface="Calibri"/>
                <a:cs typeface="Calibri"/>
                <a:sym typeface="Calibri"/>
              </a:rPr>
              <a:t> – Real time communication protocol</a:t>
            </a:r>
            <a:endParaRPr/>
          </a:p>
          <a:p>
            <a:pPr marL="228600" marR="0" lvl="0" indent="-228600" algn="l" rtl="0">
              <a:lnSpc>
                <a:spcPct val="90000"/>
              </a:lnSpc>
              <a:spcBef>
                <a:spcPts val="1000"/>
              </a:spcBef>
              <a:spcAft>
                <a:spcPts val="0"/>
              </a:spcAft>
              <a:buClr>
                <a:schemeClr val="dk1"/>
              </a:buClr>
              <a:buSzPct val="100000"/>
              <a:buFont typeface="Arial"/>
              <a:buChar char="•"/>
            </a:pPr>
            <a:r>
              <a:rPr lang="en-IN" sz="2800" b="1" i="0" u="none" strike="noStrike" cap="none">
                <a:solidFill>
                  <a:schemeClr val="dk1"/>
                </a:solidFill>
                <a:latin typeface="Calibri"/>
                <a:ea typeface="Calibri"/>
                <a:cs typeface="Calibri"/>
                <a:sym typeface="Calibri"/>
              </a:rPr>
              <a:t>TensorFlow</a:t>
            </a:r>
            <a:r>
              <a:rPr lang="en-IN" sz="2800" b="0" i="0" u="none" strike="noStrike" cap="none">
                <a:solidFill>
                  <a:schemeClr val="dk1"/>
                </a:solidFill>
                <a:latin typeface="Calibri"/>
                <a:ea typeface="Calibri"/>
                <a:cs typeface="Calibri"/>
                <a:sym typeface="Calibri"/>
              </a:rPr>
              <a:t> – ML for anomaly detection</a:t>
            </a:r>
            <a:endParaRPr/>
          </a:p>
          <a:p>
            <a:pPr marL="228600" marR="0" lvl="0" indent="-228600" algn="l" rtl="0">
              <a:lnSpc>
                <a:spcPct val="90000"/>
              </a:lnSpc>
              <a:spcBef>
                <a:spcPts val="1000"/>
              </a:spcBef>
              <a:spcAft>
                <a:spcPts val="0"/>
              </a:spcAft>
              <a:buClr>
                <a:schemeClr val="dk1"/>
              </a:buClr>
              <a:buSzPct val="100000"/>
              <a:buFont typeface="Arial"/>
              <a:buChar char="•"/>
            </a:pPr>
            <a:r>
              <a:rPr lang="en-IN" sz="2800" b="1" i="0" u="none" strike="noStrike" cap="none">
                <a:solidFill>
                  <a:schemeClr val="dk1"/>
                </a:solidFill>
                <a:latin typeface="Calibri"/>
                <a:ea typeface="Calibri"/>
                <a:cs typeface="Calibri"/>
                <a:sym typeface="Calibri"/>
              </a:rPr>
              <a:t>Flower framework </a:t>
            </a:r>
            <a:r>
              <a:rPr lang="en-IN" sz="2800" b="0" i="0" u="none" strike="noStrike" cap="none">
                <a:solidFill>
                  <a:schemeClr val="dk1"/>
                </a:solidFill>
                <a:latin typeface="Calibri"/>
                <a:ea typeface="Calibri"/>
                <a:cs typeface="Calibri"/>
                <a:sym typeface="Calibri"/>
              </a:rPr>
              <a:t>– Federated Learning simulation</a:t>
            </a:r>
            <a:endParaRPr/>
          </a:p>
          <a:p>
            <a:pPr marL="228600" marR="0" lvl="0" indent="-228600" algn="l" rtl="0">
              <a:lnSpc>
                <a:spcPct val="90000"/>
              </a:lnSpc>
              <a:spcBef>
                <a:spcPts val="1000"/>
              </a:spcBef>
              <a:spcAft>
                <a:spcPts val="0"/>
              </a:spcAft>
              <a:buClr>
                <a:schemeClr val="dk1"/>
              </a:buClr>
              <a:buSzPct val="100000"/>
              <a:buFont typeface="Arial"/>
              <a:buChar char="•"/>
            </a:pPr>
            <a:r>
              <a:rPr lang="en-IN" sz="2800" b="1" i="0" u="none" strike="noStrike" cap="none">
                <a:solidFill>
                  <a:schemeClr val="dk1"/>
                </a:solidFill>
                <a:latin typeface="Calibri"/>
                <a:ea typeface="Calibri"/>
                <a:cs typeface="Calibri"/>
                <a:sym typeface="Calibri"/>
              </a:rPr>
              <a:t>Ethereum</a:t>
            </a:r>
            <a:r>
              <a:rPr lang="en-IN" sz="2800" b="0" i="0" u="none" strike="noStrike" cap="none">
                <a:solidFill>
                  <a:schemeClr val="dk1"/>
                </a:solidFill>
                <a:latin typeface="Calibri"/>
                <a:ea typeface="Calibri"/>
                <a:cs typeface="Calibri"/>
                <a:sym typeface="Calibri"/>
              </a:rPr>
              <a:t> – Blockchain-based model verification</a:t>
            </a:r>
            <a:endParaRPr/>
          </a:p>
          <a:p>
            <a:pPr marL="228600" marR="0" lvl="0" indent="-228600" algn="l" rtl="0">
              <a:lnSpc>
                <a:spcPct val="90000"/>
              </a:lnSpc>
              <a:spcBef>
                <a:spcPts val="1000"/>
              </a:spcBef>
              <a:spcAft>
                <a:spcPts val="0"/>
              </a:spcAft>
              <a:buClr>
                <a:schemeClr val="dk1"/>
              </a:buClr>
              <a:buSzPct val="100000"/>
              <a:buFont typeface="Arial"/>
              <a:buChar char="•"/>
            </a:pPr>
            <a:r>
              <a:rPr lang="en-IN" sz="2800" b="1" i="0" u="none" strike="noStrike" cap="none">
                <a:solidFill>
                  <a:schemeClr val="dk1"/>
                </a:solidFill>
                <a:latin typeface="Calibri"/>
                <a:ea typeface="Calibri"/>
                <a:cs typeface="Calibri"/>
                <a:sym typeface="Calibri"/>
              </a:rPr>
              <a:t>React.js + Chart.js + Tailwind CSS  </a:t>
            </a:r>
            <a:r>
              <a:rPr lang="en-IN" sz="2800" b="0" i="0" u="none" strike="noStrike" cap="none">
                <a:solidFill>
                  <a:schemeClr val="dk1"/>
                </a:solidFill>
                <a:latin typeface="Calibri"/>
                <a:ea typeface="Calibri"/>
                <a:cs typeface="Calibri"/>
                <a:sym typeface="Calibri"/>
              </a:rPr>
              <a:t>- Realtime Dashboard</a:t>
            </a:r>
            <a:endParaRPr/>
          </a:p>
          <a:p>
            <a:pPr marL="228600" marR="0" lvl="0" indent="-228600" algn="l" rtl="0">
              <a:lnSpc>
                <a:spcPct val="90000"/>
              </a:lnSpc>
              <a:spcBef>
                <a:spcPts val="1000"/>
              </a:spcBef>
              <a:spcAft>
                <a:spcPts val="0"/>
              </a:spcAft>
              <a:buClr>
                <a:schemeClr val="dk1"/>
              </a:buClr>
              <a:buSzPct val="100000"/>
              <a:buFont typeface="Arial"/>
              <a:buChar char="•"/>
            </a:pPr>
            <a:r>
              <a:rPr lang="en-IN" sz="2800" b="1" i="0" u="none" strike="noStrike" cap="none">
                <a:solidFill>
                  <a:schemeClr val="dk1"/>
                </a:solidFill>
                <a:latin typeface="Calibri"/>
                <a:ea typeface="Calibri"/>
                <a:cs typeface="Calibri"/>
                <a:sym typeface="Calibri"/>
              </a:rPr>
              <a:t>SQLite / MongoDB </a:t>
            </a:r>
            <a:r>
              <a:rPr lang="en-IN" sz="2800" b="0" i="0" u="none" strike="noStrike" cap="none">
                <a:solidFill>
                  <a:schemeClr val="dk1"/>
                </a:solidFill>
                <a:latin typeface="Calibri"/>
                <a:ea typeface="Calibri"/>
                <a:cs typeface="Calibri"/>
                <a:sym typeface="Calibri"/>
              </a:rPr>
              <a:t>– Data storage and managemen</a:t>
            </a:r>
            <a:r>
              <a:rPr lang="en-IN" sz="2800">
                <a:solidFill>
                  <a:schemeClr val="dk1"/>
                </a:solidFill>
                <a:latin typeface="Calibri"/>
                <a:ea typeface="Calibri"/>
                <a:cs typeface="Calibri"/>
                <a:sym typeface="Calibri"/>
              </a:rPr>
              <a:t>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9"/>
          <p:cNvSpPr txBox="1">
            <a:spLocks noGrp="1"/>
          </p:cNvSpPr>
          <p:nvPr>
            <p:ph type="title"/>
          </p:nvPr>
        </p:nvSpPr>
        <p:spPr>
          <a:xfrm>
            <a:off x="838200" y="365126"/>
            <a:ext cx="10515600" cy="83230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a:latin typeface="Playfair Display"/>
                <a:ea typeface="Playfair Display"/>
                <a:cs typeface="Playfair Display"/>
                <a:sym typeface="Playfair Display"/>
              </a:rPr>
              <a:t>NOVELTY OF THE WORK</a:t>
            </a:r>
            <a:endParaRPr>
              <a:latin typeface="Playfair Display"/>
              <a:ea typeface="Playfair Display"/>
              <a:cs typeface="Playfair Display"/>
              <a:sym typeface="Playfair Display"/>
            </a:endParaRPr>
          </a:p>
        </p:txBody>
      </p:sp>
      <p:sp>
        <p:nvSpPr>
          <p:cNvPr id="153" name="Google Shape;153;p19"/>
          <p:cNvSpPr txBox="1">
            <a:spLocks noGrp="1"/>
          </p:cNvSpPr>
          <p:nvPr>
            <p:ph type="body" idx="1"/>
          </p:nvPr>
        </p:nvSpPr>
        <p:spPr>
          <a:xfrm>
            <a:off x="838200" y="1513114"/>
            <a:ext cx="10515600" cy="46638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0"/>
              </a:spcAft>
              <a:buClr>
                <a:schemeClr val="dk1"/>
              </a:buClr>
              <a:buSzPct val="100000"/>
              <a:buNone/>
            </a:pPr>
            <a:r>
              <a:rPr lang="en-IN" b="1"/>
              <a:t>Edge-Based Anomaly Detection</a:t>
            </a:r>
            <a:r>
              <a:rPr lang="en-IN"/>
              <a:t>: </a:t>
            </a:r>
            <a:endParaRPr/>
          </a:p>
          <a:p>
            <a:pPr marL="0" lvl="0" indent="0" algn="l" rtl="0">
              <a:lnSpc>
                <a:spcPct val="90000"/>
              </a:lnSpc>
              <a:spcBef>
                <a:spcPts val="1000"/>
              </a:spcBef>
              <a:spcAft>
                <a:spcPts val="0"/>
              </a:spcAft>
              <a:buClr>
                <a:schemeClr val="dk1"/>
              </a:buClr>
              <a:buSzPct val="100000"/>
              <a:buNone/>
            </a:pPr>
            <a:r>
              <a:rPr lang="en-IN"/>
              <a:t>❖ In-edge fault detection in real-time, minimizing latency and cloud reliance. </a:t>
            </a:r>
            <a:endParaRPr b="1"/>
          </a:p>
          <a:p>
            <a:pPr marL="0" lvl="0" indent="0" algn="l" rtl="0">
              <a:lnSpc>
                <a:spcPct val="90000"/>
              </a:lnSpc>
              <a:spcBef>
                <a:spcPts val="1000"/>
              </a:spcBef>
              <a:spcAft>
                <a:spcPts val="0"/>
              </a:spcAft>
              <a:buClr>
                <a:schemeClr val="dk1"/>
              </a:buClr>
              <a:buSzPct val="100000"/>
              <a:buNone/>
            </a:pPr>
            <a:r>
              <a:rPr lang="en-IN" b="1"/>
              <a:t>Federated Learning with Blockchain Security :</a:t>
            </a:r>
            <a:r>
              <a:rPr lang="en-IN"/>
              <a:t> </a:t>
            </a:r>
            <a:endParaRPr/>
          </a:p>
          <a:p>
            <a:pPr marL="0" lvl="0" indent="0" algn="l" rtl="0">
              <a:lnSpc>
                <a:spcPct val="90000"/>
              </a:lnSpc>
              <a:spcBef>
                <a:spcPts val="1000"/>
              </a:spcBef>
              <a:spcAft>
                <a:spcPts val="0"/>
              </a:spcAft>
              <a:buClr>
                <a:schemeClr val="dk1"/>
              </a:buClr>
              <a:buSzPct val="100000"/>
              <a:buNone/>
            </a:pPr>
            <a:r>
              <a:rPr lang="en-IN"/>
              <a:t>❖ Preserves privacy (data remains local) and integrity via tamper-proof logging. </a:t>
            </a:r>
            <a:endParaRPr/>
          </a:p>
          <a:p>
            <a:pPr marL="0" lvl="0" indent="0" algn="l" rtl="0">
              <a:lnSpc>
                <a:spcPct val="90000"/>
              </a:lnSpc>
              <a:spcBef>
                <a:spcPts val="1000"/>
              </a:spcBef>
              <a:spcAft>
                <a:spcPts val="0"/>
              </a:spcAft>
              <a:buClr>
                <a:schemeClr val="dk1"/>
              </a:buClr>
              <a:buSzPct val="100000"/>
              <a:buNone/>
            </a:pPr>
            <a:r>
              <a:rPr lang="en-IN" b="1"/>
              <a:t>Digital Twin Integration : </a:t>
            </a:r>
            <a:endParaRPr/>
          </a:p>
          <a:p>
            <a:pPr marL="0" lvl="0" indent="0" algn="l" rtl="0">
              <a:lnSpc>
                <a:spcPct val="90000"/>
              </a:lnSpc>
              <a:spcBef>
                <a:spcPts val="1000"/>
              </a:spcBef>
              <a:spcAft>
                <a:spcPts val="0"/>
              </a:spcAft>
              <a:buClr>
                <a:schemeClr val="dk1"/>
              </a:buClr>
              <a:buSzPct val="100000"/>
              <a:buNone/>
            </a:pPr>
            <a:r>
              <a:rPr lang="en-IN"/>
              <a:t>❖ Replicas of virtual machines allow for proactive "what-if" simulations of failures. </a:t>
            </a:r>
            <a:endParaRPr/>
          </a:p>
          <a:p>
            <a:pPr marL="0" lvl="0" indent="0" algn="l" rtl="0">
              <a:lnSpc>
                <a:spcPct val="90000"/>
              </a:lnSpc>
              <a:spcBef>
                <a:spcPts val="1000"/>
              </a:spcBef>
              <a:spcAft>
                <a:spcPts val="0"/>
              </a:spcAft>
              <a:buClr>
                <a:schemeClr val="dk1"/>
              </a:buClr>
              <a:buSzPct val="100000"/>
              <a:buNone/>
            </a:pPr>
            <a:r>
              <a:rPr lang="en-IN" b="1"/>
              <a:t>Self-Optimizing Maintenance :</a:t>
            </a:r>
            <a:r>
              <a:rPr lang="en-IN"/>
              <a:t> </a:t>
            </a:r>
            <a:endParaRPr/>
          </a:p>
          <a:p>
            <a:pPr marL="0" lvl="0" indent="0" algn="l" rtl="0">
              <a:lnSpc>
                <a:spcPct val="90000"/>
              </a:lnSpc>
              <a:spcBef>
                <a:spcPts val="1000"/>
              </a:spcBef>
              <a:spcAft>
                <a:spcPts val="0"/>
              </a:spcAft>
              <a:buClr>
                <a:schemeClr val="dk1"/>
              </a:buClr>
              <a:buSzPct val="100000"/>
              <a:buNone/>
            </a:pPr>
            <a:r>
              <a:rPr lang="en-IN"/>
              <a:t>❖ Continuous learning enhances predictive accuracy over time</a:t>
            </a:r>
            <a:endParaRPr/>
          </a:p>
        </p:txBody>
      </p:sp>
      <p:sp>
        <p:nvSpPr>
          <p:cNvPr id="154" name="Google Shape;15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a:t>12-12-2025</a:t>
            </a:r>
            <a:endParaRPr/>
          </a:p>
        </p:txBody>
      </p:sp>
      <p:sp>
        <p:nvSpPr>
          <p:cNvPr id="155" name="Google Shape;15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Core Course Project –Zeroth Review</a:t>
            </a:r>
            <a:endParaRPr/>
          </a:p>
        </p:txBody>
      </p:sp>
      <p:sp>
        <p:nvSpPr>
          <p:cNvPr id="156" name="Google Shape;15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558</Words>
  <Application>Microsoft Office PowerPoint</Application>
  <PresentationFormat>Widescreen</PresentationFormat>
  <Paragraphs>69</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Playfair Display</vt:lpstr>
      <vt:lpstr>Times New Roman</vt:lpstr>
      <vt:lpstr>Nunito</vt:lpstr>
      <vt:lpstr>Calibri</vt:lpstr>
      <vt:lpstr>Arial</vt:lpstr>
      <vt:lpstr>Office Theme</vt:lpstr>
      <vt:lpstr>Industrial IoT Predictive Maintenance with Edge AI</vt:lpstr>
      <vt:lpstr>PROBLEM STATEMENT</vt:lpstr>
      <vt:lpstr>                               </vt:lpstr>
      <vt:lpstr>                               </vt:lpstr>
      <vt:lpstr>ARCHITECTURE DIAGRAM</vt:lpstr>
      <vt:lpstr>HARDWARE / SOFTWARE</vt:lpstr>
      <vt:lpstr>NOVELTY OF THE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Arjun V</dc:creator>
  <cp:lastModifiedBy>Arjun V</cp:lastModifiedBy>
  <cp:revision>1</cp:revision>
  <dcterms:modified xsi:type="dcterms:W3CDTF">2025-12-25T16:59:53Z</dcterms:modified>
</cp:coreProperties>
</file>